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Medium"/>
      <p:regular r:id="rId201315"/>
    </p:embeddedFont>
    <p:embeddedFont>
      <p:font typeface="Lora SemiBold"/>
      <p:regular r:id="rId201316"/>
    </p:embeddedFont>
    <p:embeddedFont>
      <p:font typeface="Lora Bold"/>
      <p:regular r:id="rId201317"/>
    </p:embeddedFont>
    <p:embeddedFont>
      <p:font typeface="Source Sans 3 ExtraLight"/>
      <p:regular r:id="rId201318"/>
    </p:embeddedFont>
    <p:embeddedFont>
      <p:font typeface="Source Sans 3 Light"/>
      <p:regular r:id="rId201319"/>
    </p:embeddedFont>
    <p:embeddedFont>
      <p:font typeface="Source Sans 3"/>
      <p:regular r:id="rId201320"/>
    </p:embeddedFont>
    <p:embeddedFont>
      <p:font typeface="Source Sans 3 Medium"/>
      <p:regular r:id="rId201321"/>
    </p:embeddedFont>
    <p:embeddedFont>
      <p:font typeface="Source Sans 3 SemiBold"/>
      <p:regular r:id="rId201322"/>
    </p:embeddedFont>
    <p:embeddedFont>
      <p:font typeface="Source Sans 3 Bold"/>
      <p:regular r:id="rId201323"/>
    </p:embeddedFont>
    <p:embeddedFont>
      <p:font typeface="Source Sans 3 ExtraBold"/>
      <p:regular r:id="rId201324"/>
    </p:embeddedFont>
    <p:embeddedFont>
      <p:font typeface="Source Sans 3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Relationship Id="rId201328" Type="http://schemas.openxmlformats.org/officeDocument/2006/relationships/font" Target="fonts/201328.fntdata"/><Relationship Id="rId201329" Type="http://schemas.openxmlformats.org/officeDocument/2006/relationships/font" Target="fonts/20132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>
              <a:alpha val="40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1166440"/>
            <a:ext cx="995214" cy="281136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042321" y="1211312"/>
            <a:ext cx="127292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ANALYTICS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022577" y="1166440"/>
            <a:ext cx="1245915" cy="281136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f98ac7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112321" y="1211312"/>
            <a:ext cx="1523628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INSIGHTS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952577" y="150740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3952577" y="2611785"/>
            <a:ext cx="4667845" cy="13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Analyzing 3,900 purchases across product categories to uncover spending patterns, customer segments, product preferences, and subscription behavior — guiding strategic business decisions.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 Fadil Ahmed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Science Student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9117"/>
            <a:ext cx="8096845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Summary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23577" y="962546"/>
            <a:ext cx="809684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dataset contains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3,900 rows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18 columns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capturing the full shopping journey — from customer demographics to purchase details and behavioral signals.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3577" y="1469306"/>
            <a:ext cx="8096845" cy="65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Demographics: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Age, Gender, Location, Subscription Status</a:t>
            </a:r>
            <a:endParaRPr lang="en-US" sz="1000" dirty="0"/>
          </a:p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Purchase Details: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Item, Category, Amount, Season, Size, Color</a:t>
            </a:r>
            <a:endParaRPr lang="en-US" sz="1000" dirty="0"/>
          </a:p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Shopping Behavior: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Discount, Promo Code, Previous Purchases, Frequency, Review Rating, Shipping Type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3577" y="2244551"/>
            <a:ext cx="8096845" cy="465237"/>
          </a:xfrm>
          <a:prstGeom prst="roundRect">
            <a:avLst>
              <a:gd name="adj" fmla="val 4145"/>
            </a:avLst>
          </a:prstGeom>
          <a:solidFill>
            <a:srgbClr val="790645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090" y="2421210"/>
            <a:ext cx="160660" cy="1285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263" y="2387054"/>
            <a:ext cx="800784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37 missing values found in the Review Rating column — imputed using median rating per product category.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3577" y="2898279"/>
            <a:ext cx="3979366" cy="42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523577" y="3469630"/>
            <a:ext cx="397936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Purchases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41056" y="2898279"/>
            <a:ext cx="3979366" cy="42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4641056" y="3469630"/>
            <a:ext cx="397936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Columns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3577" y="3943871"/>
            <a:ext cx="3979366" cy="42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$59.76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23577" y="4515222"/>
            <a:ext cx="397936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Purchase (USD)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41056" y="3943871"/>
            <a:ext cx="3979366" cy="42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3.75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4641056" y="4515222"/>
            <a:ext cx="397936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Avg Review Rating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98116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Exploratory Data Analysis in Python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649388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Careful data preparation set the tone for the entire analysis. By thoroughly loading, validating, and cleaning the dataset before any modeling or visualization, we built a dependable foundation for uncovering insights that were both accurate and decision-ready.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330053"/>
            <a:ext cx="149572" cy="1495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3577" y="2531641"/>
            <a:ext cx="1911995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23577" y="2644527"/>
            <a:ext cx="19119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Data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5145" y="2330053"/>
            <a:ext cx="149572" cy="1495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85145" y="2531641"/>
            <a:ext cx="1912069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2585145" y="2644527"/>
            <a:ext cx="191206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Data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6786" y="2330053"/>
            <a:ext cx="149572" cy="14957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46786" y="2531641"/>
            <a:ext cx="1911995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4646786" y="2644527"/>
            <a:ext cx="191199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Engineer Features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8353" y="2330053"/>
            <a:ext cx="149572" cy="14957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708353" y="2531641"/>
            <a:ext cx="1912069" cy="19050"/>
          </a:xfrm>
          <a:prstGeom prst="rect">
            <a:avLst/>
          </a:prstGeom>
          <a:solidFill>
            <a:srgbClr val="6EB9FC"/>
          </a:solidFill>
          <a:ln/>
        </p:spPr>
        <p:txBody>
          <a:bodyPr/>
          <a:p/>
        </p:txBody>
      </p:sp>
      <p:sp>
        <p:nvSpPr>
          <p:cNvPr id="15" name="Text 9"/>
          <p:cNvSpPr/>
          <p:nvPr/>
        </p:nvSpPr>
        <p:spPr>
          <a:xfrm>
            <a:off x="6708353" y="2644527"/>
            <a:ext cx="191206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23577" y="3144887"/>
            <a:ext cx="8096845" cy="100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standardized column names to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make the dataset easier to read, easier to reference in code, and less prone to errors during analysis. We also removed the 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field after confirming it duplicated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This prevented duplicated signals from distorting the results, reduced unnecessary clutter, and strengthened the overall integrity of the dataset for downstream analysis.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43533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88194"/>
            <a:ext cx="4289003" cy="2943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2270" y="1354559"/>
            <a:ext cx="3442841" cy="157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total revenue — more than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double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$75,191 contributed by female shoppers.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significant gap highlights a male-dominated customer base and points toward gender-targeted growth opportunities.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184746"/>
            <a:ext cx="4667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&amp; Discount Patterns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52577" y="1910730"/>
            <a:ext cx="21514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52577" y="2280270"/>
            <a:ext cx="2151459" cy="140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 — 3.86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 — 3.84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 — 3.82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 — 3.80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 — 3.78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73726" y="1910730"/>
            <a:ext cx="215145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73726" y="2500238"/>
            <a:ext cx="2151459" cy="140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 — 50.0%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Sneakers — 49.7%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Coat — 49.1%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Sweater — 48.2%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Pants — 47.4%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09179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vs. Non-Subscribers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53840"/>
            <a:ext cx="3442841" cy="26122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36107" y="1520205"/>
            <a:ext cx="4289003" cy="13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customers are subscribers, yet average spend is nearly identical across both groups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$59.87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drove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$170,436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total revenue compared to $62,645 from subscribers, suggesting a large untapped base for conversion.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556"/>
            <a:ext cx="80968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23577" y="2337048"/>
            <a:ext cx="4368552" cy="280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grouping customers into Loyal, Returning, and New segments, we uncover the engine of retention, repeat purchase behavior, and future expansion. This view highlights where the business already has a strong foundation — and where targeted engagement can unlock the next wave of growth.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5011" y="707306"/>
            <a:ext cx="3540100" cy="3540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3577" y="4336852"/>
            <a:ext cx="2672432" cy="385018"/>
          </a:xfrm>
          <a:prstGeom prst="roundRect">
            <a:avLst>
              <a:gd name="adj" fmla="val 3005"/>
            </a:avLst>
          </a:prstGeom>
          <a:solidFill>
            <a:srgbClr val="444752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00670" y="4413945"/>
            <a:ext cx="2518246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0670" y="4551238"/>
            <a:ext cx="2518246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 customers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3235747" y="4336852"/>
            <a:ext cx="2672432" cy="385018"/>
          </a:xfrm>
          <a:prstGeom prst="roundRect">
            <a:avLst>
              <a:gd name="adj" fmla="val 3005"/>
            </a:avLst>
          </a:prstGeom>
          <a:solidFill>
            <a:srgbClr val="44475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12840" y="4413945"/>
            <a:ext cx="2518246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Returning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12840" y="4551238"/>
            <a:ext cx="2518246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 customers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5947916" y="4336852"/>
            <a:ext cx="2672507" cy="385018"/>
          </a:xfrm>
          <a:prstGeom prst="roundRect">
            <a:avLst>
              <a:gd name="adj" fmla="val 3005"/>
            </a:avLst>
          </a:prstGeom>
          <a:solidFill>
            <a:srgbClr val="44475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025009" y="4413945"/>
            <a:ext cx="2518321" cy="113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25009" y="4551238"/>
            <a:ext cx="2518321" cy="9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 customers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43533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Age Group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88194"/>
            <a:ext cx="4289003" cy="2943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2270" y="1354559"/>
            <a:ext cx="3442841" cy="13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Young Adults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lead revenue contribution at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$62,143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followed closely by Middle-aged shoppers at $59,197.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Seniors contribute the least at $55,763, but the gap across all groups is relatively narrow — indicating broad appeal across age demographics.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804764"/>
            <a:ext cx="4667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Power BI Dashboard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3577" y="2381176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final dashboard consolidates every insight into a single interactive view with filters for Subscription Status, Gender, Category, and Shipping Type — featuring KPI cards, a subscription donut chart, and bar charts for revenue and sales breakdowns.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06202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57474"/>
            <a:ext cx="2599209" cy="1365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400" y="1626096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8400" y="1935807"/>
            <a:ext cx="21857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convert the 73% non-subscriber base.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358" y="1457474"/>
            <a:ext cx="2599209" cy="13651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17181" y="1626096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517181" y="1935807"/>
            <a:ext cx="21857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move them into the Loyal segment.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1139" y="1457474"/>
            <a:ext cx="2599283" cy="13651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5962" y="1626096"/>
            <a:ext cx="21858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5962" y="1935807"/>
            <a:ext cx="218583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 on discount-dependent products.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2972172"/>
            <a:ext cx="2599209" cy="13651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400" y="3140794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68400" y="3450506"/>
            <a:ext cx="21857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and best-selling products in marketing campaigns.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358" y="2972172"/>
            <a:ext cx="2599209" cy="13651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517181" y="3140794"/>
            <a:ext cx="21857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517181" y="3450506"/>
            <a:ext cx="21857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and express-shipping users.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91601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 for Your Time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580382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and Presentation by </a:t>
            </a:r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 Fadil Ahmed</a:t>
            </a:r>
            <a:endParaRPr lang="en-US" sz="11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trust these insights into customer shopping behavior will empower your strategic decisions and drive significant growth.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2026-07-07T13:03:13Z</dcterms:created>
  <dcterms:modified xsi:type="dcterms:W3CDTF">2026-07-07T13:03:13Z</dcterms:modified>
</cp:coreProperties>
</file>